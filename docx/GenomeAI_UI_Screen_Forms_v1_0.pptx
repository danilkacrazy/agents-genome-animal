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Надой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Пн</c:v>
                  </c:pt>
                  <c:pt idx="1">
                    <c:v>Вт</c:v>
                  </c:pt>
                  <c:pt idx="2">
                    <c:v>Ср</c:v>
                  </c:pt>
                  <c:pt idx="3">
                    <c:v>Чт</c:v>
                  </c:pt>
                  <c:pt idx="4">
                    <c:v>Пт</c:v>
                  </c:pt>
                  <c:pt idx="5">
                    <c:v>Сб</c:v>
                  </c:pt>
                  <c:pt idx="6">
                    <c:v>Вс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33.9</c:v>
                </c:pt>
                <c:pt idx="1">
                  <c:v>34.2</c:v>
                </c:pt>
                <c:pt idx="2">
                  <c:v>34</c:v>
                </c:pt>
                <c:pt idx="3">
                  <c:v>34.5</c:v>
                </c:pt>
                <c:pt idx="4">
                  <c:v>34.8</c:v>
                </c:pt>
                <c:pt idx="5">
                  <c:v>34.7</c:v>
                </c:pt>
                <c:pt idx="6">
                  <c:v>34.8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SCC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180</c:v>
                </c:pt>
                <c:pt idx="1">
                  <c:v>195</c:v>
                </c:pt>
                <c:pt idx="2">
                  <c:v>210</c:v>
                </c:pt>
                <c:pt idx="3">
                  <c:v>240</c:v>
                </c:pt>
                <c:pt idx="4">
                  <c:v>260</c:v>
                </c:pt>
                <c:pt idx="5">
                  <c:v>280</c:v>
                </c:pt>
                <c:pt idx="6">
                  <c:v>300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Надой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35.1</c:v>
                </c:pt>
                <c:pt idx="1">
                  <c:v>34.7</c:v>
                </c:pt>
                <c:pt idx="2">
                  <c:v>34.2</c:v>
                </c:pt>
                <c:pt idx="3">
                  <c:v>33.5</c:v>
                </c:pt>
                <c:pt idx="4">
                  <c:v>33</c:v>
                </c:pt>
                <c:pt idx="5">
                  <c:v>33.2</c:v>
                </c:pt>
                <c:pt idx="6">
                  <c:v>33.1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Надой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Пн</c:v>
                  </c:pt>
                  <c:pt idx="1">
                    <c:v>Вт</c:v>
                  </c:pt>
                  <c:pt idx="2">
                    <c:v>Ср</c:v>
                  </c:pt>
                  <c:pt idx="3">
                    <c:v>Чт</c:v>
                  </c:pt>
                  <c:pt idx="4">
                    <c:v>Пт</c:v>
                  </c:pt>
                  <c:pt idx="5">
                    <c:v>Сб</c:v>
                  </c:pt>
                  <c:pt idx="6">
                    <c:v>Вс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34.5</c:v>
                </c:pt>
                <c:pt idx="1">
                  <c:v>34.2</c:v>
                </c:pt>
                <c:pt idx="2">
                  <c:v>33.9</c:v>
                </c:pt>
                <c:pt idx="3">
                  <c:v>33.5</c:v>
                </c:pt>
                <c:pt idx="4">
                  <c:v>33.2</c:v>
                </c:pt>
                <c:pt idx="5">
                  <c:v>33.1</c:v>
                </c:pt>
                <c:pt idx="6">
                  <c:v>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SCC ферма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210</c:v>
                </c:pt>
                <c:pt idx="1">
                  <c:v>208</c:v>
                </c:pt>
                <c:pt idx="2">
                  <c:v>215</c:v>
                </c:pt>
                <c:pt idx="3">
                  <c:v>220</c:v>
                </c:pt>
                <c:pt idx="4">
                  <c:v>230</c:v>
                </c:pt>
                <c:pt idx="5">
                  <c:v>225</c:v>
                </c:pt>
                <c:pt idx="6">
                  <c:v>215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SCC A‑12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190</c:v>
                </c:pt>
                <c:pt idx="1">
                  <c:v>205</c:v>
                </c:pt>
                <c:pt idx="2">
                  <c:v>220</c:v>
                </c:pt>
                <c:pt idx="3">
                  <c:v>245</c:v>
                </c:pt>
                <c:pt idx="4">
                  <c:v>260</c:v>
                </c:pt>
                <c:pt idx="5">
                  <c:v>255</c:v>
                </c:pt>
                <c:pt idx="6">
                  <c:v>240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(none)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97280"/>
            <a:ext cx="10607040" cy="466344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508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 AgroAnimals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23444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Экранные формы (UI mockups) для презентации проекта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2788920"/>
            <a:ext cx="457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9718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Включены ключевые модули развития: Dashboard, Integrations, Alerts, AI Copilot, Health, Repro, Mating plan, Genomics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5440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• 14.01.2026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Вход и выбор фермы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1865376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1865376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135124"/>
            <a:ext cx="47548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56048" y="2244852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Добро пожаловать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56048" y="2519172"/>
            <a:ext cx="4352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Войдите и выберите контур данных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304952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3287268"/>
            <a:ext cx="4114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3512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name@company.ru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37993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4037076"/>
            <a:ext cx="4114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41010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74920" y="455828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Контур / ферма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74920" y="4796028"/>
            <a:ext cx="4114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48600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 •  Ферма 01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23960" y="48417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74920" y="5381244"/>
            <a:ext cx="4114800" cy="47548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542696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Войти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074920" y="5765292"/>
            <a:ext cx="210312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9784" y="5783580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• Аудит • On‑prem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69480" y="5765292"/>
            <a:ext cx="169164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24344" y="5783580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QC контроль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Farm Cockpit (Dashboard)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панель  ›  KPI и отклонения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1865376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1865376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847088"/>
            <a:ext cx="202311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81528" y="1956816"/>
            <a:ext cx="16207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Надой, кг/день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81528" y="2212848"/>
            <a:ext cx="1620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081528" y="2542032"/>
            <a:ext cx="868680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36392" y="2560320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86150" y="2542032"/>
            <a:ext cx="1216152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1014" y="2560320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Высокая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40630" y="1847088"/>
            <a:ext cx="202311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41798" y="1956816"/>
            <a:ext cx="16207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SCC, тыс/мл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41798" y="2212848"/>
            <a:ext cx="1620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5241798" y="2542032"/>
            <a:ext cx="868680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96662" y="2560320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46420" y="2542032"/>
            <a:ext cx="1216152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01284" y="2560320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Средняя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00900" y="1847088"/>
            <a:ext cx="202311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402068" y="1956816"/>
            <a:ext cx="16207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группе риска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02068" y="2212848"/>
            <a:ext cx="1620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7402068" y="2542032"/>
            <a:ext cx="868680" cy="21945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56932" y="2560320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06690" y="2542032"/>
            <a:ext cx="1216152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1554" y="2560320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Средняя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361170" y="1847088"/>
            <a:ext cx="202311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562338" y="1956816"/>
            <a:ext cx="16207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Репро: кандидаты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562338" y="2212848"/>
            <a:ext cx="1620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9562338" y="2542032"/>
            <a:ext cx="868680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17202" y="2560320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966960" y="2542032"/>
            <a:ext cx="1216152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21824" y="2560320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Высокая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80360" y="2807208"/>
            <a:ext cx="5272430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081528" y="2916936"/>
            <a:ext cx="48700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(7 дней)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081528" y="3191256"/>
            <a:ext cx="48700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Надой / SCC / активность (если доступно)</a:t>
            </a:r>
            <a:endParaRPr lang="en-US" sz="1000" dirty="0"/>
          </a:p>
        </p:txBody>
      </p:sp>
      <p:graphicFrame>
        <p:nvGraphicFramePr>
          <p:cNvPr id="59" name="Chart 0" descr=""/>
          <p:cNvGraphicFramePr/>
          <p:nvPr/>
        </p:nvGraphicFramePr>
        <p:xfrm>
          <a:off x="3200400" y="3675888"/>
          <a:ext cx="463235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0" name="Text 57"/>
          <p:cNvSpPr/>
          <p:nvPr/>
        </p:nvSpPr>
        <p:spPr>
          <a:xfrm>
            <a:off x="3200400" y="5276088"/>
            <a:ext cx="46323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Отклонения недели (exceptions)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3200400" y="5550408"/>
            <a:ext cx="463235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209544" y="5586984"/>
            <a:ext cx="461406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364992" y="5596128"/>
            <a:ext cx="740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4142232" y="5596128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5605272" y="5596128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Группа/Объект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7068312" y="5596128"/>
            <a:ext cx="8924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3364992" y="5852160"/>
            <a:ext cx="740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4142232" y="5852160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SCC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5605272" y="5852160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Группа: A‑12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7068312" y="5852160"/>
            <a:ext cx="8924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SCC↑, 3 случая мастита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3328416" y="6126480"/>
            <a:ext cx="437631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364992" y="6108192"/>
            <a:ext cx="740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4142232" y="6108192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 удоя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5605272" y="6108192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Pen: 4</a:t>
            </a:r>
            <a:endParaRPr lang="en-US" sz="1000" dirty="0"/>
          </a:p>
        </p:txBody>
      </p:sp>
      <p:sp>
        <p:nvSpPr>
          <p:cNvPr id="75" name="Text 72"/>
          <p:cNvSpPr/>
          <p:nvPr/>
        </p:nvSpPr>
        <p:spPr>
          <a:xfrm>
            <a:off x="7068312" y="6108192"/>
            <a:ext cx="8924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Надой↓, активность↓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3328416" y="6382512"/>
            <a:ext cx="437631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3364992" y="6364224"/>
            <a:ext cx="740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4142232" y="636422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 просрочки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5605272" y="636422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коров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7068312" y="6364224"/>
            <a:ext cx="8924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DIM&gt;120 без осем.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3328416" y="6638544"/>
            <a:ext cx="437631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317382" y="2807208"/>
            <a:ext cx="3066898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83" name="Text 80"/>
          <p:cNvSpPr/>
          <p:nvPr/>
        </p:nvSpPr>
        <p:spPr>
          <a:xfrm>
            <a:off x="8518550" y="2916936"/>
            <a:ext cx="266456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 — топ алерты</a:t>
            </a:r>
            <a:endParaRPr lang="en-US" sz="1200" dirty="0"/>
          </a:p>
        </p:txBody>
      </p:sp>
      <p:sp>
        <p:nvSpPr>
          <p:cNvPr id="84" name="Text 81"/>
          <p:cNvSpPr/>
          <p:nvPr/>
        </p:nvSpPr>
        <p:spPr>
          <a:xfrm>
            <a:off x="8518550" y="3191256"/>
            <a:ext cx="266456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сделать сегодня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8545982" y="3493008"/>
            <a:ext cx="2609698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555126" y="3529584"/>
            <a:ext cx="259141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8710574" y="3538728"/>
            <a:ext cx="466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1000" dirty="0"/>
          </a:p>
        </p:txBody>
      </p:sp>
      <p:sp>
        <p:nvSpPr>
          <p:cNvPr id="88" name="Text 85"/>
          <p:cNvSpPr/>
          <p:nvPr/>
        </p:nvSpPr>
        <p:spPr>
          <a:xfrm>
            <a:off x="9213494" y="3538728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</a:t>
            </a:r>
            <a:endParaRPr lang="en-US" sz="1000" dirty="0"/>
          </a:p>
        </p:txBody>
      </p:sp>
      <p:sp>
        <p:nvSpPr>
          <p:cNvPr id="89" name="Text 86"/>
          <p:cNvSpPr/>
          <p:nvPr/>
        </p:nvSpPr>
        <p:spPr>
          <a:xfrm>
            <a:off x="10905134" y="3538728"/>
            <a:ext cx="3785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Рекомендуемое действие</a:t>
            </a:r>
            <a:endParaRPr lang="en-US" sz="1000" dirty="0"/>
          </a:p>
        </p:txBody>
      </p:sp>
      <p:sp>
        <p:nvSpPr>
          <p:cNvPr id="90" name="Text 87"/>
          <p:cNvSpPr/>
          <p:nvPr/>
        </p:nvSpPr>
        <p:spPr>
          <a:xfrm>
            <a:off x="8710574" y="3794760"/>
            <a:ext cx="466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000" dirty="0"/>
          </a:p>
        </p:txBody>
      </p:sp>
      <p:sp>
        <p:nvSpPr>
          <p:cNvPr id="91" name="Text 88"/>
          <p:cNvSpPr/>
          <p:nvPr/>
        </p:nvSpPr>
        <p:spPr>
          <a:xfrm>
            <a:off x="9213494" y="3794760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Мастит‑риск (6)</a:t>
            </a:r>
            <a:endParaRPr lang="en-US" sz="1000" dirty="0"/>
          </a:p>
        </p:txBody>
      </p:sp>
      <p:sp>
        <p:nvSpPr>
          <p:cNvPr id="92" name="Text 89"/>
          <p:cNvSpPr/>
          <p:nvPr/>
        </p:nvSpPr>
        <p:spPr>
          <a:xfrm>
            <a:off x="10905134" y="3794760"/>
            <a:ext cx="3785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Осмотр / проба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8673998" y="4069080"/>
            <a:ext cx="235366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8710574" y="4050792"/>
            <a:ext cx="466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</a:t>
            </a:r>
            <a:endParaRPr lang="en-US" sz="1000" dirty="0"/>
          </a:p>
        </p:txBody>
      </p:sp>
      <p:sp>
        <p:nvSpPr>
          <p:cNvPr id="95" name="Text 92"/>
          <p:cNvSpPr/>
          <p:nvPr/>
        </p:nvSpPr>
        <p:spPr>
          <a:xfrm>
            <a:off x="9213494" y="4050792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активность (9)</a:t>
            </a:r>
            <a:endParaRPr lang="en-US" sz="1000" dirty="0"/>
          </a:p>
        </p:txBody>
      </p:sp>
      <p:sp>
        <p:nvSpPr>
          <p:cNvPr id="96" name="Text 93"/>
          <p:cNvSpPr/>
          <p:nvPr/>
        </p:nvSpPr>
        <p:spPr>
          <a:xfrm>
            <a:off x="10905134" y="4050792"/>
            <a:ext cx="3785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/ перевести</a:t>
            </a:r>
            <a:endParaRPr lang="en-US" sz="1000" dirty="0"/>
          </a:p>
        </p:txBody>
      </p:sp>
      <p:sp>
        <p:nvSpPr>
          <p:cNvPr id="97" name="Shape 94"/>
          <p:cNvSpPr/>
          <p:nvPr/>
        </p:nvSpPr>
        <p:spPr>
          <a:xfrm>
            <a:off x="8673998" y="4325112"/>
            <a:ext cx="235366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8710574" y="4306824"/>
            <a:ext cx="466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</a:t>
            </a:r>
            <a:endParaRPr lang="en-US" sz="1000" dirty="0"/>
          </a:p>
        </p:txBody>
      </p:sp>
      <p:sp>
        <p:nvSpPr>
          <p:cNvPr id="99" name="Text 96"/>
          <p:cNvSpPr/>
          <p:nvPr/>
        </p:nvSpPr>
        <p:spPr>
          <a:xfrm>
            <a:off x="9213494" y="4306824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Кормовой риск (2)</a:t>
            </a:r>
            <a:endParaRPr lang="en-US" sz="1000" dirty="0"/>
          </a:p>
        </p:txBody>
      </p:sp>
      <p:sp>
        <p:nvSpPr>
          <p:cNvPr id="100" name="Text 97"/>
          <p:cNvSpPr/>
          <p:nvPr/>
        </p:nvSpPr>
        <p:spPr>
          <a:xfrm>
            <a:off x="10905134" y="4306824"/>
            <a:ext cx="3785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рациона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>
            <a:off x="8673998" y="4581144"/>
            <a:ext cx="235366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8710574" y="4562856"/>
            <a:ext cx="466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1000" dirty="0"/>
          </a:p>
        </p:txBody>
      </p:sp>
      <p:sp>
        <p:nvSpPr>
          <p:cNvPr id="103" name="Text 100"/>
          <p:cNvSpPr/>
          <p:nvPr/>
        </p:nvSpPr>
        <p:spPr>
          <a:xfrm>
            <a:off x="9213494" y="4562856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 окно (12)</a:t>
            </a:r>
            <a:endParaRPr lang="en-US" sz="1000" dirty="0"/>
          </a:p>
        </p:txBody>
      </p:sp>
      <p:sp>
        <p:nvSpPr>
          <p:cNvPr id="104" name="Text 101"/>
          <p:cNvSpPr/>
          <p:nvPr/>
        </p:nvSpPr>
        <p:spPr>
          <a:xfrm>
            <a:off x="10905134" y="4562856"/>
            <a:ext cx="3785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Осеменение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8673998" y="4837176"/>
            <a:ext cx="235366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8545982" y="5879592"/>
            <a:ext cx="210312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8600846" y="589788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Перейти в Action Center →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Action Center (Алерты и действия)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  ›  Триаж и журнал решений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2249424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2249424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847088"/>
            <a:ext cx="29260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35224" y="1865376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Фильтры: домен • критичность • статус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1847088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98464" y="1865376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шума: 30/день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921240" y="1847088"/>
            <a:ext cx="146304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76104" y="186537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списка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880360" y="2286000"/>
            <a:ext cx="408188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081528" y="2395728"/>
            <a:ext cx="3679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алертов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81528" y="2670048"/>
            <a:ext cx="367954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Сортировка по приоритету и влиянию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26834" y="2286000"/>
            <a:ext cx="4257446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28002" y="2395728"/>
            <a:ext cx="385511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 алерта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28002" y="2670048"/>
            <a:ext cx="38551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 → факты → действие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08960" y="2971800"/>
            <a:ext cx="3624682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18104" y="3008376"/>
            <a:ext cx="360639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73552" y="3017520"/>
            <a:ext cx="374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85032" y="3017520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99432" y="3017520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017520"/>
            <a:ext cx="13478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73552" y="3273552"/>
            <a:ext cx="374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85032" y="3273552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99432" y="3273552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04812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13832" y="3273552"/>
            <a:ext cx="13478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SCC↑, удой↓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36976" y="3547872"/>
            <a:ext cx="336865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73552" y="3529584"/>
            <a:ext cx="374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85032" y="3529584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99432" y="3529584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03177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513832" y="3529584"/>
            <a:ext cx="13478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охоты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36976" y="3803904"/>
            <a:ext cx="336865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73552" y="3785616"/>
            <a:ext cx="374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685032" y="3785616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99432" y="3785616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513832" y="3785616"/>
            <a:ext cx="13478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Надой↓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36976" y="4059936"/>
            <a:ext cx="336865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73552" y="4041648"/>
            <a:ext cx="374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85032" y="4041648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599432" y="4041648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A‑12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513832" y="4041648"/>
            <a:ext cx="13478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SCC↑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36976" y="4315968"/>
            <a:ext cx="336865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73552" y="4297680"/>
            <a:ext cx="374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685032" y="4297680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Интегр.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599432" y="4297680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API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513832" y="4297680"/>
            <a:ext cx="13478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просрочены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236976" y="4572000"/>
            <a:ext cx="336865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55434" y="2999232"/>
            <a:ext cx="38002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Алерт: Мастит‑риск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7355434" y="3291840"/>
            <a:ext cx="914400" cy="25603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10298" y="3310128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P1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361274" y="3291840"/>
            <a:ext cx="146304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16138" y="331012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Средняя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9915754" y="3291840"/>
            <a:ext cx="1097280" cy="2560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970618" y="3310128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высокий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355434" y="3611880"/>
            <a:ext cx="38002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 (reason codes)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355434" y="3931920"/>
            <a:ext cx="12344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10298" y="3950208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↑ (7 дней)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681314" y="3931920"/>
            <a:ext cx="82296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36178" y="3950208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Удой ↓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595714" y="3931920"/>
            <a:ext cx="13258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650578" y="395020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События: 2 лечения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355434" y="4279392"/>
            <a:ext cx="38002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graphicFrame>
        <p:nvGraphicFramePr>
          <p:cNvPr id="86" name="Chart 0" descr=""/>
          <p:cNvGraphicFramePr/>
          <p:nvPr/>
        </p:nvGraphicFramePr>
        <p:xfrm>
          <a:off x="7355434" y="4617720"/>
          <a:ext cx="3800246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7" name="Text 84"/>
          <p:cNvSpPr/>
          <p:nvPr/>
        </p:nvSpPr>
        <p:spPr>
          <a:xfrm>
            <a:off x="7355434" y="5925312"/>
            <a:ext cx="38002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Рекомендованные действия</a:t>
            </a:r>
            <a:endParaRPr lang="en-US" sz="1600" dirty="0"/>
          </a:p>
        </p:txBody>
      </p:sp>
      <p:sp>
        <p:nvSpPr>
          <p:cNvPr id="88" name="Shape 85"/>
          <p:cNvSpPr/>
          <p:nvPr/>
        </p:nvSpPr>
        <p:spPr>
          <a:xfrm>
            <a:off x="7355434" y="6236208"/>
            <a:ext cx="1783080" cy="38404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355434" y="628192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задачу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9275674" y="6236208"/>
            <a:ext cx="1325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9275674" y="62819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Отложить</a:t>
            </a:r>
            <a:endParaRPr lang="en-US" sz="1200" dirty="0"/>
          </a:p>
        </p:txBody>
      </p:sp>
      <p:sp>
        <p:nvSpPr>
          <p:cNvPr id="92" name="Text 89"/>
          <p:cNvSpPr/>
          <p:nvPr/>
        </p:nvSpPr>
        <p:spPr>
          <a:xfrm>
            <a:off x="7355434" y="6565392"/>
            <a:ext cx="38002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Журнал: 14:05 • Решение: Осмотр • Исп.: Ветврач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Карточка животного (универсальная)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  ›  ID 04812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2633472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2633472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847088"/>
            <a:ext cx="8503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81528" y="1956816"/>
            <a:ext cx="8101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04812  •  Лактация 2  •  DIM 87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81528" y="2231136"/>
            <a:ext cx="8101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A‑12 • Pen 4 • Статус: в доении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2560320"/>
            <a:ext cx="731520" cy="2560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63824" y="2578608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QC: OK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931920" y="2560320"/>
            <a:ext cx="1417320" cy="25603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86784" y="2578608"/>
            <a:ext cx="1307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риск: высокий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40680" y="2560320"/>
            <a:ext cx="105156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95544" y="2578608"/>
            <a:ext cx="941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Repro: норма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44000" y="2560320"/>
            <a:ext cx="20116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98864" y="2578608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run_id: 2026‑01‑14‑0620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80360" y="3154680"/>
            <a:ext cx="527243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081528" y="3264408"/>
            <a:ext cx="48700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и факты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81528" y="3538728"/>
            <a:ext cx="48700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Надой / SCC / активность (если доступно)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17382" y="3154680"/>
            <a:ext cx="3066898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518550" y="3264408"/>
            <a:ext cx="266456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18550" y="3538728"/>
            <a:ext cx="266456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Пояснения и действия</a:t>
            </a:r>
            <a:endParaRPr lang="en-US" sz="10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3200400" y="3931920"/>
          <a:ext cx="463235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6" name="Text 43"/>
          <p:cNvSpPr/>
          <p:nvPr/>
        </p:nvSpPr>
        <p:spPr>
          <a:xfrm>
            <a:off x="3200400" y="5330952"/>
            <a:ext cx="46323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Таймлайн событий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200400" y="5623560"/>
            <a:ext cx="463235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209544" y="5660136"/>
            <a:ext cx="461406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364992" y="5669280"/>
            <a:ext cx="1014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416552" y="5669280"/>
            <a:ext cx="1380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833872" y="5669280"/>
            <a:ext cx="212689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3364992" y="5925312"/>
            <a:ext cx="1014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2026‑01‑13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4416552" y="5925312"/>
            <a:ext cx="1380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мастита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5833872" y="5925312"/>
            <a:ext cx="212689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310 → 280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3328416" y="6199632"/>
            <a:ext cx="437631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364992" y="6181344"/>
            <a:ext cx="1014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2025‑10‑19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4416552" y="6181344"/>
            <a:ext cx="1380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Отёл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5833872" y="6181344"/>
            <a:ext cx="212689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Лактация 2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3328416" y="6455664"/>
            <a:ext cx="437631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545982" y="3886200"/>
            <a:ext cx="2609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 списке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8545982" y="4206240"/>
            <a:ext cx="12344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600846" y="4224528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↑ (7 дней)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871862" y="4206240"/>
            <a:ext cx="82296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926726" y="4224528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Надой ↓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10786262" y="4206240"/>
            <a:ext cx="82296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841126" y="4224528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лечения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8545982" y="4572000"/>
            <a:ext cx="2609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Рекомендованное действие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8545982" y="4937760"/>
            <a:ext cx="2609698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701430" y="5001768"/>
            <a:ext cx="2289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Осмотр + проба молока (приоритет P1).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подтверждено — назначить протокол лечения и контроль через 48ч.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8545982" y="5696712"/>
            <a:ext cx="1691640" cy="38404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545982" y="57424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задачу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10329062" y="5696712"/>
            <a:ext cx="1325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0329062" y="574243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Отложить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8545982" y="5897880"/>
            <a:ext cx="2609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здоровью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8545982" y="6217920"/>
            <a:ext cx="141732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600846" y="6236208"/>
            <a:ext cx="1307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SCC: 300 тыс/мл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10027310" y="6217920"/>
            <a:ext cx="15544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0082174" y="6236208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Надой: 33.1 кг/д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8545982" y="6537960"/>
            <a:ext cx="14173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600846" y="6556248"/>
            <a:ext cx="1307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30д: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Данные и интеграции — источники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 ›  Источники данных  ›  Статусы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4937760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4937760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847088"/>
            <a:ext cx="10972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35224" y="1865376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Источников: 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0" y="1847088"/>
            <a:ext cx="1097280" cy="29260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9664" y="1865376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QC: 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1847088"/>
            <a:ext cx="914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04104" y="186537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OK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84080" y="1847088"/>
            <a:ext cx="16002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38944" y="1865376"/>
            <a:ext cx="1490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источник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80360" y="2350008"/>
            <a:ext cx="273710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081528" y="2459736"/>
            <a:ext cx="2334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API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81528" y="2734056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Тип: API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75632" y="2478024"/>
            <a:ext cx="7772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0496" y="2496312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81528" y="3063240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загрузка: 06:20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081528" y="3282696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ошибки: 0–3%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63768" y="2350008"/>
            <a:ext cx="273710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964936" y="2459736"/>
            <a:ext cx="2334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СЕЛЭКС экспорт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964936" y="2734056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Тип: XLSX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59040" y="2478024"/>
            <a:ext cx="777240" cy="237744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13904" y="2496312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64936" y="3063240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загрузка: 06:20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64936" y="3282696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ошибки: 0–3%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647176" y="2350008"/>
            <a:ext cx="273710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848344" y="2459736"/>
            <a:ext cx="2334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Датчики активности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848344" y="2734056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Тип: CSV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442448" y="2478024"/>
            <a:ext cx="7772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97312" y="2496312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848344" y="3063240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загрузка: 06:20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848344" y="3282696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ошибки: 0–3%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880360" y="3730752"/>
            <a:ext cx="273710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081528" y="3840480"/>
            <a:ext cx="2334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Лечения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081528" y="4114800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Тип: DB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675632" y="3858768"/>
            <a:ext cx="7772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30496" y="387705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081528" y="4443984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загрузка: 06:20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081528" y="4663440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ошибки: 0–3%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763768" y="3730752"/>
            <a:ext cx="273710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964936" y="3840480"/>
            <a:ext cx="2334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Кормление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964936" y="4114800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Тип: CSV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559040" y="3858768"/>
            <a:ext cx="777240" cy="23774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13904" y="387705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964936" y="4443984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загрузка: 06:20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964936" y="4663440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ошибки: 0–3%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647176" y="3730752"/>
            <a:ext cx="273710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8848344" y="3840480"/>
            <a:ext cx="2334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848344" y="4114800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Тип: XLSX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0442448" y="3858768"/>
            <a:ext cx="7772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497312" y="387705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848344" y="4443984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загрузка: 06:20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848344" y="4663440"/>
            <a:ext cx="2334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ошибки: 0–3%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880360" y="5093208"/>
            <a:ext cx="85039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3081528" y="5202936"/>
            <a:ext cx="8101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registry (версии)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3081528" y="5477256"/>
            <a:ext cx="8101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Воспроизводимость и аудит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108960" y="5687568"/>
            <a:ext cx="8046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118104" y="5724144"/>
            <a:ext cx="80284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73552" y="5733288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run_id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285232" y="5733288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382512" y="5733288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205472" y="5733288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Модель/правила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668512" y="573328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3273552" y="5989320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2026‑01‑14‑0620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285232" y="5989320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milk_v12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382512" y="5989320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qc_v7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205472" y="5989320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rules_v4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668512" y="598932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236976" y="6263640"/>
            <a:ext cx="779068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73552" y="6245352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2026‑01‑13‑0621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5285232" y="6245352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milk_v11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6382512" y="6245352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qc_v7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7205472" y="6245352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rules_v4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8668512" y="624535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236976" y="6519672"/>
            <a:ext cx="779068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273552" y="6501384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2026‑01‑12‑0619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5285232" y="6501384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milk_v11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6382512" y="6501384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qc_v6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7205472" y="650138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rules_v3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8668512" y="6501384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3236976" y="6775704"/>
            <a:ext cx="779068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Маппинг колонок (Wizard)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 ›  Маппинг  ›  Профиль: СЕЛЭКС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4937760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4937760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847088"/>
            <a:ext cx="8503920" cy="4507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81528" y="1956816"/>
            <a:ext cx="8101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маппинга (шаг 2 из 4)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81528" y="2231136"/>
            <a:ext cx="8101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Форматы и сопоставления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2532888"/>
            <a:ext cx="228600" cy="2286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56432" y="2642616"/>
            <a:ext cx="15544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2532888"/>
            <a:ext cx="228600" cy="2286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Маппинг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68112" y="2642616"/>
            <a:ext cx="15544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2532888"/>
            <a:ext cx="228600" cy="2286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правила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79792" y="2642616"/>
            <a:ext cx="15544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5440" y="2532888"/>
            <a:ext cx="228600" cy="2286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5548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08960" y="2944368"/>
            <a:ext cx="4193438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310128" y="3054096"/>
            <a:ext cx="37911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Превью файла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10128" y="3328416"/>
            <a:ext cx="37911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100 строк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66990" y="2944368"/>
            <a:ext cx="3917290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668158" y="3054096"/>
            <a:ext cx="35149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Сопоставление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668158" y="3328416"/>
            <a:ext cx="35149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системы ↔ колонка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91840" y="3630168"/>
            <a:ext cx="382767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00984" y="3666744"/>
            <a:ext cx="380939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56432" y="3675888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ear_tag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462272" y="3675888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85232" y="3675888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milk_kg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08192" y="3675888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748272" y="3675888"/>
            <a:ext cx="4992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56432" y="3931920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RU‑04812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462272" y="3931920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285232" y="3931920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08192" y="3931920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748272" y="3931920"/>
            <a:ext cx="4992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2026‑01‑14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419856" y="4206240"/>
            <a:ext cx="357164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56432" y="4187952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RU‑03177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462272" y="4187952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3177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285232" y="4187952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108192" y="4187952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748272" y="4187952"/>
            <a:ext cx="4992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2026‑01‑14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419856" y="4462272"/>
            <a:ext cx="357164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56432" y="4443984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RU‑02991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462272" y="4443984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2991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285232" y="4443984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108192" y="4443984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748272" y="4443984"/>
            <a:ext cx="4992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2026‑01‑14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419856" y="4718304"/>
            <a:ext cx="357164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49870" y="3630168"/>
            <a:ext cx="346009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659014" y="3666744"/>
            <a:ext cx="344180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14462" y="3675888"/>
            <a:ext cx="1380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системы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231782" y="3675888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0329062" y="3675888"/>
            <a:ext cx="90891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814462" y="3931920"/>
            <a:ext cx="1380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ID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231782" y="3931920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329062" y="3931920"/>
            <a:ext cx="90891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777886" y="4206240"/>
            <a:ext cx="320405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814462" y="4187952"/>
            <a:ext cx="1380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9231782" y="4187952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0329062" y="4187952"/>
            <a:ext cx="90891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YYYY‑MM‑DD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777886" y="4462272"/>
            <a:ext cx="320405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14462" y="4443984"/>
            <a:ext cx="1380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Надой (кг)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9231782" y="4443984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milk_kg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10329062" y="4443984"/>
            <a:ext cx="90891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777886" y="4718304"/>
            <a:ext cx="320405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814462" y="4700016"/>
            <a:ext cx="1380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(тыс/мл)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9231782" y="4700016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10329062" y="4700016"/>
            <a:ext cx="90891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x1000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777886" y="4974336"/>
            <a:ext cx="320405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503920" y="5852160"/>
            <a:ext cx="1325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503920" y="588873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Назад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9921240" y="5852160"/>
            <a:ext cx="1325880" cy="36576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921240" y="588873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QC отчёт загрузки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 ›  QC отчёт  ›  Партия: 2026‑01‑14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4937760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4937760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847088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81528" y="1956816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81528" y="2231136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Животных в партии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81528" y="230428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4937760" y="2002536"/>
            <a:ext cx="502920" cy="2560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2020824"/>
            <a:ext cx="393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0" y="1847088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61888" y="1956816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(ERROR)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61888" y="2231136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Блокеры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61888" y="230428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7635240" y="2002536"/>
            <a:ext cx="685800" cy="25603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90104" y="2020824"/>
            <a:ext cx="576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41080" y="1847088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842248" y="1956816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Предупр. (WARN)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842248" y="2231136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блокируют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979408" y="230428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10607040" y="2002536"/>
            <a:ext cx="594360" cy="2560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61904" y="2020824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80360" y="2962656"/>
            <a:ext cx="8503920" cy="3392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081528" y="3072384"/>
            <a:ext cx="8101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и рекомендации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081528" y="3346704"/>
            <a:ext cx="8101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ошибка снижает confidence в рекомендациях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08960" y="3630168"/>
            <a:ext cx="804672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18104" y="3666744"/>
            <a:ext cx="80284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73552" y="3675888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42232" y="3675888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10912" y="3675888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879592" y="367588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34072" y="3675888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273552" y="3931920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142232" y="3931920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10912" y="3931920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879592" y="3931920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Неверный формат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34072" y="3931920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Привести к YYYY‑MM‑DD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36976" y="4206240"/>
            <a:ext cx="779068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73552" y="4187952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142232" y="4187952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010912" y="4187952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milk_kg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879592" y="4187952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434072" y="4187952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Заполнить/исключить строку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236976" y="4462272"/>
            <a:ext cx="779068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73552" y="4443984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142232" y="4443984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4812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010912" y="4443984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879592" y="4443984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434072" y="4443984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измерение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236976" y="4718304"/>
            <a:ext cx="779068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73552" y="4700016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142232" y="4700016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3177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010912" y="4700016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milk_kg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879592" y="470001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Скачок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434072" y="4700016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первичку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236976" y="4974336"/>
            <a:ext cx="779068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64040" y="3200400"/>
            <a:ext cx="169164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518904" y="32186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ошибок (CSV)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Отчёты (Executive / Full)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  ›  Список версий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4553712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4553712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847088"/>
            <a:ext cx="3401568" cy="4507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81528" y="1956816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отчётов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81528" y="2231136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по периоду и типу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1847088"/>
            <a:ext cx="4937760" cy="4507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47688" y="1956816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отчёта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47688" y="2231136"/>
            <a:ext cx="4535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viewer + факт‑пак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08960" y="2560320"/>
            <a:ext cx="1417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63824" y="2578608"/>
            <a:ext cx="1307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отчёт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2560320"/>
            <a:ext cx="14173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72584" y="2578608"/>
            <a:ext cx="1307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Тип: Executive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08960" y="2990088"/>
            <a:ext cx="2944368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18104" y="3026664"/>
            <a:ext cx="29260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3035808"/>
            <a:ext cx="923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233672" y="3035808"/>
            <a:ext cx="649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19472" y="3035808"/>
            <a:ext cx="649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05272" y="3035808"/>
            <a:ext cx="576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73552" y="3291840"/>
            <a:ext cx="923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2026‑01‑14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33672" y="3291840"/>
            <a:ext cx="649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19472" y="3291840"/>
            <a:ext cx="649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0620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05272" y="3291840"/>
            <a:ext cx="576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36976" y="3566160"/>
            <a:ext cx="268833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73552" y="3547872"/>
            <a:ext cx="923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2026‑01‑07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33672" y="3547872"/>
            <a:ext cx="649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19472" y="3547872"/>
            <a:ext cx="649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0619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05272" y="3547872"/>
            <a:ext cx="576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36976" y="3822192"/>
            <a:ext cx="268833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73552" y="3803904"/>
            <a:ext cx="923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2025‑12‑31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233672" y="3803904"/>
            <a:ext cx="649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919472" y="3803904"/>
            <a:ext cx="649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0615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605272" y="3803904"/>
            <a:ext cx="576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36976" y="4078224"/>
            <a:ext cx="268833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73552" y="4059936"/>
            <a:ext cx="923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2025‑12‑24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233672" y="4059936"/>
            <a:ext cx="649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919472" y="4059936"/>
            <a:ext cx="649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0612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05272" y="4059936"/>
            <a:ext cx="576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36976" y="4334256"/>
            <a:ext cx="268833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75120" y="2560320"/>
            <a:ext cx="4480560" cy="3593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0" y="2715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 — Ферма 01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858000" y="3081528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KPI и отклонения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Риски здоровья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Репро KPI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Рекомендации действий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цифры привязаны к fact‑pack (run_id).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858000" y="4636008"/>
            <a:ext cx="9601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12864" y="4654296"/>
            <a:ext cx="850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Fact‑pack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509760" y="2560320"/>
            <a:ext cx="96012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564624" y="2578608"/>
            <a:ext cx="850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Скачать PDF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0515600" y="256032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570464" y="257860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Скачать DOCX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AI Copilot (Q&amp;A по fact‑pack)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  ›  Copilot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4553712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4553712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847088"/>
            <a:ext cx="4762195" cy="4507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81528" y="1956816"/>
            <a:ext cx="43598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81528" y="2231136"/>
            <a:ext cx="435985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только по фактам (fact‑pack)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07147" y="1847088"/>
            <a:ext cx="3577133" cy="4507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008315" y="1956816"/>
            <a:ext cx="317479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 и ссылки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08315" y="2231136"/>
            <a:ext cx="317479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Проверяемость и аудит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08960" y="2560320"/>
            <a:ext cx="205740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63824" y="2578608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упал надой в Pen 4?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39512" y="2560320"/>
            <a:ext cx="219456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94376" y="257860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корова в списке риска?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31920" y="2990088"/>
            <a:ext cx="35277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69080" y="3099816"/>
            <a:ext cx="32534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упал надой в Pen 4 за последние 7 дней?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108960" y="3675888"/>
            <a:ext cx="352775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3785616"/>
            <a:ext cx="32077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Кратко: снижение надоя связано с падением активности и ростом доли high‑risk животных.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Факты: Pen 4: 34.5 → 33.0 кг/д; активность −9%; 6 животных с SCC↑.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08960" y="5093208"/>
            <a:ext cx="3527755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73552" y="5276088"/>
            <a:ext cx="32077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Ссылки: Dashboard → Pen 4 • Action Center → алерты • Карточки животных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35747" y="2560320"/>
            <a:ext cx="31199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4 — надой (7 дней)</a:t>
            </a:r>
            <a:endParaRPr lang="en-US" sz="16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8035747" y="2898648"/>
          <a:ext cx="3119933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6" name="Text 43"/>
          <p:cNvSpPr/>
          <p:nvPr/>
        </p:nvSpPr>
        <p:spPr>
          <a:xfrm>
            <a:off x="8035747" y="4453128"/>
            <a:ext cx="31199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 (fact‑pack)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035747" y="4754880"/>
            <a:ext cx="3119933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044891" y="4791456"/>
            <a:ext cx="310164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200339" y="4800600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9754819" y="4800600"/>
            <a:ext cx="15288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8200339" y="5056632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Надой (Pen 4)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9754819" y="5056632"/>
            <a:ext cx="15288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34.5 → 33.0 кг/д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8163763" y="5330952"/>
            <a:ext cx="2863901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200339" y="5312664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Активность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9754819" y="5312664"/>
            <a:ext cx="15288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−9%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8163763" y="5586984"/>
            <a:ext cx="2863901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200339" y="556869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High‑risk животных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9754819" y="5568696"/>
            <a:ext cx="15288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8163763" y="5843016"/>
            <a:ext cx="2863901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035747" y="5971032"/>
            <a:ext cx="201168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090611" y="598932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run_id: 2026‑01‑14‑0620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Здоровье — сводка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  ›  Риски и протоколы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3017520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3017520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847088"/>
            <a:ext cx="202311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81528" y="1956816"/>
            <a:ext cx="16207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Мастит‑риск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81528" y="2212848"/>
            <a:ext cx="1620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081528" y="2542032"/>
            <a:ext cx="868680" cy="21945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36392" y="2560320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86150" y="2542032"/>
            <a:ext cx="1216152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1014" y="2560320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Средняя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40630" y="1847088"/>
            <a:ext cx="202311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41798" y="1956816"/>
            <a:ext cx="16207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Хромота‑риск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41798" y="2212848"/>
            <a:ext cx="1620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5241798" y="2542032"/>
            <a:ext cx="868680" cy="21945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96662" y="2560320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46420" y="2542032"/>
            <a:ext cx="1216152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01284" y="2560320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Низкая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00900" y="1847088"/>
            <a:ext cx="202311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402068" y="1956816"/>
            <a:ext cx="16207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терапии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02068" y="2212848"/>
            <a:ext cx="1620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7402068" y="2542032"/>
            <a:ext cx="868680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56932" y="2560320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‑3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06690" y="2542032"/>
            <a:ext cx="1216152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1554" y="2560320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Высокая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361170" y="1847088"/>
            <a:ext cx="202311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562338" y="1956816"/>
            <a:ext cx="16207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562338" y="2212848"/>
            <a:ext cx="1620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9562338" y="2542032"/>
            <a:ext cx="868680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17202" y="2560320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966960" y="2542032"/>
            <a:ext cx="1216152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21824" y="2560320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Высокая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80360" y="2807208"/>
            <a:ext cx="4081882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081528" y="2916936"/>
            <a:ext cx="3679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High‑risk животные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081528" y="3191256"/>
            <a:ext cx="367954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на осмотр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126834" y="2807208"/>
            <a:ext cx="4257446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28002" y="2916936"/>
            <a:ext cx="385511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SCC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328002" y="3191256"/>
            <a:ext cx="38551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группе и по ферме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108960" y="3493008"/>
            <a:ext cx="3624682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18104" y="3529584"/>
            <a:ext cx="360639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73552" y="3538728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096512" y="3538728"/>
            <a:ext cx="694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828032" y="3538728"/>
            <a:ext cx="20336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273552" y="3794760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04812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096512" y="3794760"/>
            <a:ext cx="694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A‑12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828032" y="3794760"/>
            <a:ext cx="20336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SCC↑, удой↓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236976" y="4069080"/>
            <a:ext cx="336865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73552" y="4050792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02991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096512" y="4050792"/>
            <a:ext cx="694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B‑03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828032" y="4050792"/>
            <a:ext cx="20336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SCC↑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236976" y="4325112"/>
            <a:ext cx="336865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73552" y="4306824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03177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096512" y="4306824"/>
            <a:ext cx="694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A‑12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828032" y="4306824"/>
            <a:ext cx="20336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активность↓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36976" y="4581144"/>
            <a:ext cx="336865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73552" y="4562856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03880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096512" y="4562856"/>
            <a:ext cx="694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C‑02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828032" y="4562856"/>
            <a:ext cx="20336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температура↑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236976" y="4837176"/>
            <a:ext cx="336865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108960" y="5879592"/>
            <a:ext cx="18288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163824" y="589788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лист осмотра</a:t>
            </a:r>
            <a:endParaRPr lang="en-US" sz="1000" dirty="0"/>
          </a:p>
        </p:txBody>
      </p:sp>
      <p:graphicFrame>
        <p:nvGraphicFramePr>
          <p:cNvPr id="85" name="Chart 0" descr=""/>
          <p:cNvGraphicFramePr/>
          <p:nvPr/>
        </p:nvGraphicFramePr>
        <p:xfrm>
          <a:off x="7355434" y="3675888"/>
          <a:ext cx="3800246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6" name="Text 83"/>
          <p:cNvSpPr/>
          <p:nvPr/>
        </p:nvSpPr>
        <p:spPr>
          <a:xfrm>
            <a:off x="7355434" y="5504688"/>
            <a:ext cx="38002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</a:t>
            </a:r>
            <a:endParaRPr lang="en-US" sz="1600" dirty="0"/>
          </a:p>
        </p:txBody>
      </p:sp>
      <p:sp>
        <p:nvSpPr>
          <p:cNvPr id="87" name="Shape 84"/>
          <p:cNvSpPr/>
          <p:nvPr/>
        </p:nvSpPr>
        <p:spPr>
          <a:xfrm>
            <a:off x="7355434" y="5779008"/>
            <a:ext cx="380024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7364578" y="5815584"/>
            <a:ext cx="378195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520026" y="5824728"/>
            <a:ext cx="1472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</a:t>
            </a:r>
            <a:endParaRPr lang="en-US" sz="1000" dirty="0"/>
          </a:p>
        </p:txBody>
      </p:sp>
      <p:sp>
        <p:nvSpPr>
          <p:cNvPr id="90" name="Text 87"/>
          <p:cNvSpPr/>
          <p:nvPr/>
        </p:nvSpPr>
        <p:spPr>
          <a:xfrm>
            <a:off x="9028786" y="5824728"/>
            <a:ext cx="22549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</a:t>
            </a:r>
            <a:endParaRPr lang="en-US" sz="1000" dirty="0"/>
          </a:p>
        </p:txBody>
      </p:sp>
      <p:sp>
        <p:nvSpPr>
          <p:cNvPr id="91" name="Text 88"/>
          <p:cNvSpPr/>
          <p:nvPr/>
        </p:nvSpPr>
        <p:spPr>
          <a:xfrm>
            <a:off x="7520026" y="6080760"/>
            <a:ext cx="1472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Мастит P1</a:t>
            </a:r>
            <a:endParaRPr lang="en-US" sz="1000" dirty="0"/>
          </a:p>
        </p:txBody>
      </p:sp>
      <p:sp>
        <p:nvSpPr>
          <p:cNvPr id="92" name="Text 89"/>
          <p:cNvSpPr/>
          <p:nvPr/>
        </p:nvSpPr>
        <p:spPr>
          <a:xfrm>
            <a:off x="9028786" y="6080760"/>
            <a:ext cx="22549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SCC↑ + удой↓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7483450" y="6355080"/>
            <a:ext cx="3544214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7520026" y="6336792"/>
            <a:ext cx="1472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Осмотр хромоты</a:t>
            </a:r>
            <a:endParaRPr lang="en-US" sz="1000" dirty="0"/>
          </a:p>
        </p:txBody>
      </p:sp>
      <p:sp>
        <p:nvSpPr>
          <p:cNvPr id="95" name="Text 92"/>
          <p:cNvSpPr/>
          <p:nvPr/>
        </p:nvSpPr>
        <p:spPr>
          <a:xfrm>
            <a:off x="9028786" y="6336792"/>
            <a:ext cx="22549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активность↓ 3 дня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7483450" y="6611112"/>
            <a:ext cx="3544214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Репродукция — KPI и списки действий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  ›  План работ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3401568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3401568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847088"/>
            <a:ext cx="202311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81528" y="1956816"/>
            <a:ext cx="16207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Сервис‑период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81528" y="2212848"/>
            <a:ext cx="1620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081528" y="2542032"/>
            <a:ext cx="868680" cy="21945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36392" y="2560320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86150" y="2542032"/>
            <a:ext cx="1216152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1014" y="2560320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Средняя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40630" y="1847088"/>
            <a:ext cx="202311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41798" y="1956816"/>
            <a:ext cx="16207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Стельность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41798" y="2212848"/>
            <a:ext cx="1620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5241798" y="2542032"/>
            <a:ext cx="868680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96662" y="2560320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+2пп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46420" y="2542032"/>
            <a:ext cx="1216152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01284" y="2560320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Средняя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00900" y="1847088"/>
            <a:ext cx="202311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402068" y="1956816"/>
            <a:ext cx="16207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осеменению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02068" y="2212848"/>
            <a:ext cx="1620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7402068" y="2542032"/>
            <a:ext cx="868680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56932" y="2560320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06690" y="2542032"/>
            <a:ext cx="1216152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1554" y="2560320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Высокая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361170" y="1847088"/>
            <a:ext cx="202311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562338" y="1956816"/>
            <a:ext cx="16207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Диагн. стельн.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562338" y="2212848"/>
            <a:ext cx="1620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9562338" y="2542032"/>
            <a:ext cx="868680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17202" y="2560320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966960" y="2542032"/>
            <a:ext cx="1216152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21824" y="2560320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Высокая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80360" y="2807208"/>
            <a:ext cx="4677156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081528" y="2916936"/>
            <a:ext cx="42748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Списки действий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081528" y="3191256"/>
            <a:ext cx="42748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Осеменение / повтор / диагностика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722108" y="2807208"/>
            <a:ext cx="3662172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923276" y="2916936"/>
            <a:ext cx="3259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ближайших событий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923276" y="3191256"/>
            <a:ext cx="32598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Отёлы и диагностики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108960" y="3493008"/>
            <a:ext cx="4219956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18104" y="3529584"/>
            <a:ext cx="42016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73552" y="3538728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370832" y="3538728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193792" y="3538728"/>
            <a:ext cx="1289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519672" y="3538728"/>
            <a:ext cx="9372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273552" y="3794760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Осеменение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370832" y="3794760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03177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193792" y="3794760"/>
            <a:ext cx="1289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охоты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519672" y="3794760"/>
            <a:ext cx="9372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236976" y="4069080"/>
            <a:ext cx="3963924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73552" y="4050792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370832" y="4050792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02810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193792" y="4050792"/>
            <a:ext cx="1289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день после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519672" y="4050792"/>
            <a:ext cx="9372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Завтра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236976" y="4325112"/>
            <a:ext cx="3963924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73552" y="4306824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370832" y="4306824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04402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193792" y="4306824"/>
            <a:ext cx="1289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д после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519672" y="4306824"/>
            <a:ext cx="9372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15.01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236976" y="4581144"/>
            <a:ext cx="3963924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73552" y="4562856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Просрочка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370832" y="4562856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01933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5193792" y="4562856"/>
            <a:ext cx="1289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DIM&gt;120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519672" y="4562856"/>
            <a:ext cx="9372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Срочно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236976" y="4837176"/>
            <a:ext cx="3963924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108960" y="5276088"/>
            <a:ext cx="4219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(кратко)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3182112" y="5568696"/>
            <a:ext cx="4128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DIM просрочка: &gt; 120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3182112" y="5779008"/>
            <a:ext cx="4128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Диагностика стельности: 30 ± 3 дня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3182112" y="5989320"/>
            <a:ext cx="4128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Окно охоты: по активности / наблюдению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108960" y="5879592"/>
            <a:ext cx="18288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163824" y="589788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списка (XLSX)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7950708" y="3584448"/>
            <a:ext cx="3204972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950708" y="3675888"/>
            <a:ext cx="45785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Пн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8408561" y="3675888"/>
            <a:ext cx="45785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8866414" y="3675888"/>
            <a:ext cx="45785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9324267" y="3675888"/>
            <a:ext cx="45785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9782121" y="3675888"/>
            <a:ext cx="45785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Пт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10239974" y="3675888"/>
            <a:ext cx="45785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10697827" y="3675888"/>
            <a:ext cx="45785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7950708" y="395020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996428" y="39959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408561" y="395020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454281" y="39959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8866414" y="395020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912134" y="39959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9324267" y="395020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369987" y="39959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9782121" y="395020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827841" y="39959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10239974" y="395020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285694" y="39959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10697827" y="395020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743547" y="39959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7950708" y="475792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996428" y="48036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8408561" y="475792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454281" y="48036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8866414" y="475792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912134" y="48036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9324267" y="475792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369987" y="48036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9782121" y="475792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827841" y="48036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10239974" y="475792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285694" y="48036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10697827" y="475792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743547" y="48036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7950708" y="556564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996428" y="56113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8408561" y="556564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454281" y="56113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8866414" y="556564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912134" y="56113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9324267" y="556564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369987" y="56113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9782121" y="556564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827841" y="56113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10239974" y="556564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285694" y="56113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10697827" y="5565648"/>
            <a:ext cx="457853" cy="80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0743547" y="56113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8042148" y="4867656"/>
            <a:ext cx="777240" cy="2194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097012" y="4885944"/>
            <a:ext cx="667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Отёл: 2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8957854" y="4059936"/>
            <a:ext cx="868680" cy="21945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012718" y="4078224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Диагн.: 5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10331414" y="5675376"/>
            <a:ext cx="274973" cy="21945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0386278" y="5693664"/>
            <a:ext cx="1652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Осем.: 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Mating plan (скрещивание/селекция)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  ›  План скрещивания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3785616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3785616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847088"/>
            <a:ext cx="8503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81528" y="1956816"/>
            <a:ext cx="8101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плана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81528" y="2231136"/>
            <a:ext cx="8101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Цели, ограничения инбридинга, доступность семени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2560320"/>
            <a:ext cx="16002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63824" y="2578608"/>
            <a:ext cx="1490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Группа: ядро (n=180)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560320"/>
            <a:ext cx="18745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5464" y="2578608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Цели: надой + здоровье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2560320"/>
            <a:ext cx="169164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21424" y="25786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Инбридинг ≤ 6.25%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875520" y="2560320"/>
            <a:ext cx="12801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30384" y="2578608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Сгенерировать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80360" y="3154680"/>
            <a:ext cx="527243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081528" y="3264408"/>
            <a:ext cx="48700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корова → 3 быка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81528" y="3538728"/>
            <a:ext cx="48700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 и confidence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17382" y="3154680"/>
            <a:ext cx="3066898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518550" y="3264408"/>
            <a:ext cx="266456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Конфликты и проверки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18550" y="3538728"/>
            <a:ext cx="266456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Запреты, инбридинг, наличие доз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08960" y="3840480"/>
            <a:ext cx="481523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18104" y="3877056"/>
            <a:ext cx="479694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73552" y="3886200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Корова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096512" y="3886200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Бык #1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76672" y="3886200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Бык #2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56832" y="3886200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Бык #3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936992" y="3886200"/>
            <a:ext cx="11521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73552" y="4142232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04812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096512" y="4142232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Bull‑A (надой)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76672" y="4142232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Bull‑K (зд.)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56832" y="4142232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Bull‑M (баланс)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936992" y="4142232"/>
            <a:ext cx="11521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36976" y="4416552"/>
            <a:ext cx="455919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73552" y="4398264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03177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096512" y="4398264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Bull‑K (зд.)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376672" y="4398264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Bull‑M (баланс)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656832" y="4398264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Bull‑Q (тип)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936992" y="4398264"/>
            <a:ext cx="11521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36976" y="4672584"/>
            <a:ext cx="455919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73552" y="4654296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02991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096512" y="4654296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Bull‑M (баланс)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376672" y="4654296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Bull‑A (надой)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656832" y="4654296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Bull‑Z (легк.)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936992" y="4654296"/>
            <a:ext cx="11521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36976" y="4928616"/>
            <a:ext cx="455919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08960" y="5879592"/>
            <a:ext cx="169164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63824" y="589788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плана (XLSX)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545982" y="3867912"/>
            <a:ext cx="2609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 по выбранной паре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545982" y="4206240"/>
            <a:ext cx="960120" cy="2560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00846" y="4224528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+надой +1.3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551822" y="4206240"/>
            <a:ext cx="9601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606686" y="4224528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+здоровье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0557662" y="4206240"/>
            <a:ext cx="1143000" cy="2560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612526" y="4224528"/>
            <a:ext cx="1033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инбридинг 5.8%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545982" y="4617720"/>
            <a:ext cx="2609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конфликтов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545982" y="4919472"/>
            <a:ext cx="260969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55126" y="4956048"/>
            <a:ext cx="259141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10574" y="4965192"/>
            <a:ext cx="740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9487814" y="4965192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0767974" y="4965192"/>
            <a:ext cx="51572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710574" y="5221224"/>
            <a:ext cx="740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9487814" y="5221224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04812 × Bull‑Q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767974" y="5221224"/>
            <a:ext cx="51572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Инбридинг 6.7% &gt; 6.25%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673998" y="5495544"/>
            <a:ext cx="235366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710574" y="5477256"/>
            <a:ext cx="740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9487814" y="5477256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03177 × Bull‑Z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10767974" y="5477256"/>
            <a:ext cx="51572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доступных доз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8673998" y="5751576"/>
            <a:ext cx="235366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545982" y="5879592"/>
            <a:ext cx="20574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600846" y="5897880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детали инбридинга →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Геномика — импорт и сравнение с фактом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7132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  ›  Партии  ›  Аналитика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2057400" cy="5623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61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AgroAnimals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Cockpit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6883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4564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Репродукция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8404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4224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46085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&amp;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9926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960120"/>
            <a:ext cx="8961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143000"/>
            <a:ext cx="23774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1612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Холдинг: Север • Ферма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143000"/>
            <a:ext cx="13716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1612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7 дней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143000"/>
            <a:ext cx="20116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11612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обновлено 06:20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18520" y="111556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4169664"/>
            <a:ext cx="1837944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4169664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847088"/>
            <a:ext cx="3401568" cy="4507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81528" y="1956816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партии геномики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81528" y="2231136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EBV/GEBV/индексы + QC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1847088"/>
            <a:ext cx="4937760" cy="4507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47688" y="1956816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геномика ↔ факт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47688" y="2231136"/>
            <a:ext cx="4535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Корреляции и ранги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08960" y="2560320"/>
            <a:ext cx="13258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63824" y="2578608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 XLSX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26280" y="2560320"/>
            <a:ext cx="13258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2578608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Поставщик: Lab‑1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08960" y="2926080"/>
            <a:ext cx="13258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63824" y="2944368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Версия: 2026‑01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26280" y="2926080"/>
            <a:ext cx="187452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81144" y="2944368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match animal_id: 96%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108960" y="3310128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полей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108960" y="3630168"/>
            <a:ext cx="2944368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18104" y="3666744"/>
            <a:ext cx="29260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3675888"/>
            <a:ext cx="1289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99432" y="3675888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73552" y="3931920"/>
            <a:ext cx="1289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99432" y="3931920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04812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36976" y="4206240"/>
            <a:ext cx="268833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4187952"/>
            <a:ext cx="1289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GEBV_milk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99432" y="418795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36976" y="4462272"/>
            <a:ext cx="268833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73552" y="4443984"/>
            <a:ext cx="1289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GEBV_health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99432" y="4443984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36976" y="4718304"/>
            <a:ext cx="268833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73552" y="4700016"/>
            <a:ext cx="1289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index_total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99432" y="4700016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36976" y="4974336"/>
            <a:ext cx="2688336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0" y="2560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рангов (топ‑50)</a:t>
            </a:r>
            <a:endParaRPr lang="en-US" sz="1600" dirty="0"/>
          </a:p>
        </p:txBody>
      </p:sp>
      <p:graphicFrame>
        <p:nvGraphicFramePr>
          <p:cNvPr id="60" name="Chart 0" descr=""/>
          <p:cNvGraphicFramePr/>
          <p:nvPr/>
        </p:nvGraphicFramePr>
        <p:xfrm>
          <a:off x="6675120" y="2898648"/>
          <a:ext cx="448056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1" name="Text 58"/>
          <p:cNvSpPr/>
          <p:nvPr/>
        </p:nvSpPr>
        <p:spPr>
          <a:xfrm>
            <a:off x="6675120" y="49103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«не сходится»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6675120" y="5212080"/>
            <a:ext cx="44805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684264" y="5248656"/>
            <a:ext cx="446227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839712" y="5257800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7708392" y="5257800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Геномика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8577072" y="5257800"/>
            <a:ext cx="557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9171432" y="5257800"/>
            <a:ext cx="2112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Комментарий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6839712" y="5513832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02991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7708392" y="5513832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Top‑10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8577072" y="5513832"/>
            <a:ext cx="557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71432" y="5513832"/>
            <a:ext cx="2112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удой фактически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6803136" y="5788152"/>
            <a:ext cx="422452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839712" y="5769864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03110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7708392" y="5769864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75" name="Text 72"/>
          <p:cNvSpPr/>
          <p:nvPr/>
        </p:nvSpPr>
        <p:spPr>
          <a:xfrm>
            <a:off x="8577072" y="5769864"/>
            <a:ext cx="557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Top‑10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9171432" y="5769864"/>
            <a:ext cx="2112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удой без индекса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6803136" y="6044184"/>
            <a:ext cx="422452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839712" y="6025896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04812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7708392" y="6025896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Top‑20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8577072" y="6025896"/>
            <a:ext cx="557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81" name="Text 78"/>
          <p:cNvSpPr/>
          <p:nvPr/>
        </p:nvSpPr>
        <p:spPr>
          <a:xfrm>
            <a:off x="9171432" y="6025896"/>
            <a:ext cx="2112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SCC/здоровье влияют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6803136" y="6300216"/>
            <a:ext cx="4224528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6675120" y="5971032"/>
            <a:ext cx="201168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6729984" y="598932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Использовать в mating plan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GenomeAI — UI/UX</dc:creator>
  <cp:lastModifiedBy>GenomeAI — UI/UX</cp:lastModifiedBy>
  <cp:revision>1</cp:revision>
  <dcterms:created xsi:type="dcterms:W3CDTF">2026-01-14T10:34:46Z</dcterms:created>
  <dcterms:modified xsi:type="dcterms:W3CDTF">2026-01-14T10:34:46Z</dcterms:modified>
</cp:coreProperties>
</file>