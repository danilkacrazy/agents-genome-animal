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</p:sldIdLst>
  <p:sldSz cy="6858000" cx="12192000"/>
  <p:notesSz cx="6858000" cy="9144000"/>
  <p:embeddedFontLst>
    <p:embeddedFont>
      <p:font typeface="Inter"/>
      <p:regular r:id="rId10"/>
      <p:bold r:id="rId11"/>
      <p:italic r:id="rId12"/>
      <p:boldItalic r:id="rId13"/>
    </p:embeddedFont>
    <p:embeddedFont>
      <p:font typeface="Wix Madefor Dis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ubaV8kjqIVBT+e6yvI2ckW+MXY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Анна Борисова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7C2AC9-1F90-4C86-842C-0E30429C744C}">
  <a:tblStyle styleId="{527C2AC9-1F90-4C86-842C-0E30429C744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.fntdata"/><Relationship Id="rId10" Type="http://schemas.openxmlformats.org/officeDocument/2006/relationships/font" Target="fonts/Inter-regular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15" Type="http://schemas.openxmlformats.org/officeDocument/2006/relationships/font" Target="fonts/WixMadeforDisplay-bold.fntdata"/><Relationship Id="rId14" Type="http://schemas.openxmlformats.org/officeDocument/2006/relationships/font" Target="fonts/WixMadeforDisplay-regular.fntdata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26T13:05:28.927">
    <p:pos x="261" y="0"/>
    <p:text>Демократизация доступа - это прям классный заход.
Но так как ни в проблематике, ни в ценностном предложении нет цифр, хотелось бы понять насколько снижается порог входа? Во сколько раз ускоряется анализ?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teqTuyQ"/>
      </p:ext>
    </p:extLst>
  </p:cm>
  <p:cm authorId="0" idx="2" dt="2025-11-26T13:08:32.868">
    <p:pos x="261" y="100"/>
    <p:text>Нужно добавить цифры: какое число активных пользователей? какой уровень автоматизации и пр.
+ нужно выделить отдельные метрики на текущий этап: в январе, по каким критериям будете оценивать успех команды?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teqTuyY"/>
      </p:ext>
    </p:extLst>
  </p:cm>
  <p:cm authorId="0" idx="3" dt="2025-11-26T13:09:45.018">
    <p:pos x="261" y="200"/>
    <p:text>Какие ресурсы нужны конкретно на текущий этап?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teqTuyc"/>
      </p:ext>
    </p:extLst>
  </p:cm>
  <p:cm authorId="0" idx="4" dt="2025-11-26T13:06:42.376">
    <p:pos x="261" y="300"/>
    <p:text>Это B2B-рынок с длинным циклом продаж. Внедрение в медицинские учреждения требует соблюдения жестких регуляторных норм (как в России, так и за рубежом) - требуется учесть как риск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teqTuyU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19" name="Google Shape;19;p1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3" name="Google Shape;23;p18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2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38" name="Google Shape;38;p22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6" name="Google Shape;6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3" name="Google Shape;103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" name="Google Shape;10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86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buClr>
                <a:schemeClr val="dk2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"/>
          <p:cNvSpPr/>
          <p:nvPr/>
        </p:nvSpPr>
        <p:spPr>
          <a:xfrm flipH="1" rot="10800000">
            <a:off x="120000" y="122400"/>
            <a:ext cx="11952800" cy="6615600"/>
          </a:xfrm>
          <a:prstGeom prst="roundRect">
            <a:avLst>
              <a:gd fmla="val 3275" name="adj"/>
            </a:avLst>
          </a:prstGeom>
          <a:solidFill>
            <a:srgbClr val="FA5416"/>
          </a:solidFill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360000" y="360000"/>
            <a:ext cx="11472000" cy="1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533" u="none" cap="none" strike="noStrike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GENOME AI</a:t>
            </a:r>
            <a:br>
              <a:rPr i="0" lang="ru-RU" sz="4533" u="none" cap="none" strike="noStrike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r>
              <a:rPr lang="ru-RU" sz="4533">
                <a:solidFill>
                  <a:srgbClr val="FF9871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Canvas команды</a:t>
            </a:r>
            <a:br>
              <a:rPr i="0" lang="ru-RU" sz="4533" u="none" cap="none" strike="noStrike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</a:br>
            <a:endParaRPr i="0" sz="4533" u="none" cap="none" strike="noStrike">
              <a:solidFill>
                <a:srgbClr val="FF9871"/>
              </a:solidFill>
              <a:latin typeface="Wix Madefor Display"/>
              <a:ea typeface="Wix Madefor Display"/>
              <a:cs typeface="Wix Madefor Display"/>
              <a:sym typeface="Wix Madefor Display"/>
            </a:endParaRPr>
          </a:p>
        </p:txBody>
      </p:sp>
      <p:pic>
        <p:nvPicPr>
          <p:cNvPr id="132" name="Google Shape;13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7700" y="122400"/>
            <a:ext cx="6615600" cy="66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Google Shape;138;p2"/>
          <p:cNvGraphicFramePr/>
          <p:nvPr/>
        </p:nvGraphicFramePr>
        <p:xfrm>
          <a:off x="415578" y="3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{527C2AC9-1F90-4C86-842C-0E30429C744C}</a:tableStyleId>
              </a:tblPr>
              <a:tblGrid>
                <a:gridCol w="2383600"/>
                <a:gridCol w="2202025"/>
                <a:gridCol w="2304650"/>
                <a:gridCol w="2108725"/>
                <a:gridCol w="2382275"/>
              </a:tblGrid>
              <a:tr h="313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Проблема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Генетический анализ занимает много времени (5–7 дней), работа с большими объёмами данных требует существенных вычислительных ресурсов, сложных пайплайнов и специальных навыков.​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Трудно сформировать персонализированные медицинские рекомендации по риску заболеваний и лекарственной чувствительности.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Вероятность пропуска редких мутаций возрастает с ростом массива данных.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Сейчас биоинформатические инструменты сложны для внедрения без специальной подготовки, а большинство решений требуют настройки пайплайнов вручную или через командную строку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0750" marL="90750">
                    <a:lnL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Решение</a:t>
                      </a:r>
                      <a:b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No-code платформа для запуска готовых биоинформатических анализов одним кликом через графический интерфейс, без необходимости разбираться в деталях пайплайнов или инфраструктуры.​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Возможность запуска нескольких кейсов (вариантов анализа) с автоматизированным выбором параметров и пошаговой интерпретацией результатов.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 будущем — интеграция ИИ для советов по использованию платформы и интерпретации результатов, но запуск пайплайнов остается детерминированным и понятным.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b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endParaRPr b="1" sz="9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0750" marL="90750">
                    <a:lnL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Ценность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0"/>
                            </a:ext>
                          </a:extLst>
                        </a:rPr>
                        <a:t>Снижение порога входа в современные методы геномного анализа.​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1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2"/>
                            </a:ext>
                          </a:extLst>
                        </a:rPr>
                        <a:t>Быстрая интерпретация генетических данных без глубоких знаний в биоинформатике.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3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4"/>
                            </a:ext>
                          </a:extLst>
                        </a:rPr>
                        <a:t>Ускорение процессов исследований и анализа.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5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6"/>
                            </a:ext>
                          </a:extLst>
                        </a:rPr>
                        <a:t>Снижение вероятности технических ошибок при запуске пайплайнов.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7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8"/>
                            </a:ext>
                          </a:extLst>
                        </a:rPr>
                        <a:t>Демократизация доступа к генетическим сервисам для малого и среднего бизнеса (лаборатории, частные клиники, исследовательские группы).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b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endParaRPr b="0" sz="9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0750" marL="90750">
                    <a:lnL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None/>
                      </a:pPr>
                      <a: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Преимущества</a:t>
                      </a:r>
                      <a:b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Простой интерфейс и отсутствие необходимости писать код.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Комбинирование лучших практик и инструментов биоинформатики в одном сервисе.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Ориентация на определённые use cases с детерминированной автоматизацией.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Быстрая интеграция и настройка решений под конкретные задачи клиента, что отличает от сложных конкурентов.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0750" marL="90750">
                    <a:lnL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None/>
                      </a:pPr>
                      <a: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9"/>
                            </a:ext>
                          </a:extLst>
                        </a:rPr>
                        <a:t>Сегменты пользователей</a:t>
                      </a:r>
                      <a:b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9"/>
                            </a:ext>
                          </a:extLst>
                        </a:rPr>
                      </a:b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10"/>
                            </a:ext>
                          </a:extLst>
                        </a:rPr>
                        <a:t>Лаборатории, занимающиеся генетическим анализом и биомедицинскими исследованиями.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11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12"/>
                            </a:ext>
                          </a:extLst>
                        </a:rPr>
                        <a:t>Медицинские центры и частные клиники (без штатного bioinformatic).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13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14"/>
                            </a:ext>
                          </a:extLst>
                        </a:rPr>
                        <a:t>Исследовательские группы в вузах.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15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16"/>
                            </a:ext>
                          </a:extLst>
                        </a:rPr>
                        <a:t>Компании, работающие с биобанками образцов или персонализированной медициной.​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0750" marL="90750">
                    <a:lnL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13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Альтернативы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Использование специализированных инструментов: Nextflow, Galaxy, DeepVariant, Open-source скрипты.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Компании/лаборатории часто создают свои собственные пайплайны или используют консалтинг.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Уже существуют различные онлайновые сервисы, но они сложны или заточены под профессионалов</a:t>
                      </a:r>
                      <a:endParaRPr sz="900"/>
                    </a:p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9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0750" marL="90750">
                    <a:lnL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Метрики</a:t>
                      </a:r>
                      <a:b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17"/>
                            </a:ext>
                          </a:extLst>
                        </a:rPr>
                        <a:t>Количество запусков аналитических пайплайнов.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18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19"/>
                            </a:ext>
                          </a:extLst>
                        </a:rPr>
                        <a:t>Время от загрузки данных до получения результата.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20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21"/>
                            </a:ext>
                          </a:extLst>
                        </a:rPr>
                        <a:t>Число активных пользователей/лабораторий.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22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23"/>
                            </a:ext>
                          </a:extLst>
                        </a:rPr>
                        <a:t>Уровень автоматизации (процент операций без ручного вмешательства).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24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25"/>
                            </a:ext>
                          </a:extLst>
                        </a:rPr>
                        <a:t>Удовлетворённость пользователей простотой интерфейса.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b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endParaRPr b="1" sz="9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0750" marL="90750">
                    <a:lnL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Каналы продвижения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Участие в отраслевых конференциях и форумах (генетика, биоинформатика).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Публикации и выступления в профильных исследовательских сообществах.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Целевая email-рассылка и персональные демо для лабораторий/клиник.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Вебинары и обучающие мероприятия для исследовательских групп.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0750" marL="90750">
                    <a:lnL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None/>
                      </a:pPr>
                      <a: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Стейкхолдеры</a:t>
                      </a:r>
                      <a:b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b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Текущие: команда разработчиков no-code платформы, внутренний scientific advisor, лаборатории и клиники, пробные пользователи.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Целевые: крупные исследовательские лаборатории (могут стать флагманскими партнерами), медицинские центры, отраслевые инвесторы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0750" marL="90750">
                    <a:lnL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3630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8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</a:t>
                      </a:r>
                      <a:r>
                        <a:rPr b="1" lang="ru-RU" sz="7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остав команды</a:t>
                      </a:r>
                      <a:endParaRPr sz="7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7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Андрей Жиров -  руководитель проекта</a:t>
                      </a:r>
                      <a:endParaRPr sz="7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7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Данил Вишняков – ML инженер</a:t>
                      </a:r>
                      <a:endParaRPr sz="7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7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Егор Ворсин  - backend разработчик</a:t>
                      </a:r>
                      <a:endParaRPr sz="7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7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Надежда Цой – проектный менеджер</a:t>
                      </a:r>
                      <a:endParaRPr sz="7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7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Егор Шульгин – frontend разработчик</a:t>
                      </a:r>
                      <a:endParaRPr b="0" sz="7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70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Савелий Комлев - ML инженер</a:t>
                      </a:r>
                      <a:endParaRPr b="0" sz="70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alibri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0750" marL="90750">
                    <a:lnL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nter"/>
                        <a:buNone/>
                      </a:pPr>
                      <a: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26"/>
                            </a:ext>
                          </a:extLst>
                        </a:rPr>
                        <a:t>Необходимые затраты</a:t>
                      </a:r>
                      <a:b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26"/>
                            </a:ext>
                          </a:extLst>
                        </a:rPr>
                      </a:br>
                      <a:br>
                        <a:rPr b="1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26"/>
                            </a:ext>
                          </a:extLst>
                        </a:rPr>
                      </a:b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27"/>
                            </a:ext>
                          </a:extLst>
                        </a:rPr>
                        <a:t>Веб-инфраструктура и облачные вычисления.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28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29"/>
                            </a:ext>
                          </a:extLst>
                        </a:rPr>
                        <a:t>Лицензии на сторонние пайплайны и инструменты.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30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31"/>
                            </a:ext>
                          </a:extLst>
                        </a:rPr>
                        <a:t>Техническая поддержка и обучение пользователей.</a:t>
                      </a:r>
                      <a:endParaRPr sz="900">
                        <a:extLst>
                          <a:ext uri="http://customooxmlschemas.google.com/">
                            <go:slidesCustomData xmlns:go="http://customooxmlschemas.google.com/" textRoundtripDataId="32"/>
                          </a:ext>
                        </a:extLst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Inter"/>
                        <a:buNone/>
                      </a:pPr>
                      <a:r>
                        <a:rPr b="0" lang="ru-RU" sz="9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  <a:extLst>
                            <a:ext uri="http://customooxmlschemas.google.com/">
                              <go:slidesCustomData xmlns:go="http://customooxmlschemas.google.com/" textRoundtripDataId="33"/>
                            </a:ext>
                          </a:extLst>
                        </a:rPr>
                        <a:t>Маркетинговые расходы.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0750" marL="90750">
                    <a:lnL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2025-09-03T18:17:08Z</dcterms:created>
  <dc:creator>Microsoft Office User</dc:creator>
</cp:coreProperties>
</file>