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Производство молока (2024), млн т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Россия</c:v>
                  </c:pt>
                  <c:pt idx="1">
                    <c:v>Беларусь</c:v>
                  </c:pt>
                  <c:pt idx="2">
                    <c:v>Казахстан</c:v>
                  </c:pt>
                  <c:pt idx="3">
                    <c:v>Узбекистан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34.07</c:v>
                </c:pt>
                <c:pt idx="1">
                  <c:v>8.751</c:v>
                </c:pt>
                <c:pt idx="2">
                  <c:v>3.572</c:v>
                </c:pt>
                <c:pt idx="3">
                  <c:v>12.444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Hero photo (Holstein cow): https://images.unsplash.com/photo-1547158732-1de2d876e497 (accessed via images.unsplash.com)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Milking parlor photo: https://plus.unsplash.com/premium_photo-1682129080998-3291a59812d9 (accessed via plus.unsplash.com)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Russia raw milk production 2024 (34.07 mln t): Interfax, Feb 11 2025 https://interfax.com/newsroom/top-stories/109720/
- Belarus milk production 2024 (8751.1 thousand t): Belstat press release https://www.belstat.gov.by/ofitsialnaya-statistika/realny-sector-ekonomiki/selskoe-hozyaistvo/selskoe-khozyaystvo/godovye-dannye/o-chislennosti-skota-i-ptitsy-proizvodstve-produktsii-zhivotnovodstva-v-khozyaystvakh-vsekh-kategori/
- Kazakhstan milk production 2024 (3571.9 thousand t) and shares: Qazinform Jan 31 2025 https://qazinform.com/news/volume-of-milk-production-in-kazakhstan-exceeds-104-b7af93
- Uzbekistan milk production 2024 (12 443.8 thousand t): Stat.uz (Agriculture, forestry and fisheries, Jan-Dec 2024) https://stat.uz/files/483/choraklik-natijalar-yanvar-dekabr2024eng/3834/3AGRICULTURE-FORESTRY-AND-FISHERIES.pdf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Market context and dairy analytics example (visual reference): AgroVision Dairy Analytics page https://agrovision.com/es/software/dairy-analytics/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Dashboard screenshot (reference): https://agrovision.com/wp-content/uploads/2024/10/Adviseurs-dashboard-2.png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visuals or third-party claims on this slide; content is product design)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СЕЛЭКС (описание продукта): https://helpcenter.plinor.ru/wiki%3Acatalog
- 1С:Цифровое животноводство (КРС): https://solutions.1c.ru/catalog/mes-krs/buy
- DairyComp (herd management): https://vas.com/dairycomp/
- Herriot (ВетИС) назначение: https://help.vetrf.ru/wiki/%D0%9A%D0%BE%D0%BC%D0%BF%D0%BE%D0%BD%D0%B5%D0%BD%D1%82_%D0%A5%D0%BE%D1%80%D1%80%D0%B8%D0%BE%D1%82
- Belarus AITS (идентификация/прослеживаемость): https://www.aits.by/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visuals on this slide; legal/security items are generic B2B practices)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sources; timeline and deliverables are project plan)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sources; roadmap is a planning artifact)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sources; monetization options and ROI framework are illustrative)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visuals on this slide)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g_cow_hero.jp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 AgroAnimals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77240" y="2834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(СНГ) • молочный КРС • продуктивность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32918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ML‑оценка + AI‑отчёт с рекомендациями: кого развивать, кого наблюдать, кого выбраковывать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4114800"/>
            <a:ext cx="5120640" cy="640080"/>
          </a:xfrm>
          <a:prstGeom prst="round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23367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On‑prem по умолчанию • Decision‑support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продуктивность “теряется” в данных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35440" y="164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AS‑IS</a:t>
            </a:r>
            <a:endParaRPr lang="en-US" sz="1200" dirty="0"/>
          </a:p>
        </p:txBody>
      </p:sp>
      <p:pic>
        <p:nvPicPr>
          <p:cNvPr id="5" name="Image 0" descr="/mnt/data/img_milking.jpg">    </p:cNvPr>
          <p:cNvPicPr>
            <a:picLocks noChangeAspect="1"/>
          </p:cNvPicPr>
          <p:nvPr/>
        </p:nvPicPr>
        <p:blipFill>
          <a:blip r:embed="rId1"/>
          <a:srcRect l="17213" r="17213" t="0" b="0"/>
          <a:stretch/>
        </p:blipFill>
        <p:spPr>
          <a:xfrm>
            <a:off x="6583680" y="868680"/>
            <a:ext cx="5486400" cy="5577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868680"/>
            <a:ext cx="5486400" cy="557784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0515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специализированной системы: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155448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учёт и данные разрознены (учётка, доильный зал, Excel, лаборатории)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качество данных плавает: ID, даты отёла/рождения, 305‑дневный удой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решения по выбраковке/ядру часто принимаются “по ощущению” и с задержкой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сложно объяснить экономический эффект и стандартизировать подход между площадками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5943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14400" y="40690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хотим получить в MVP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43484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Честную ML‑оценку продуктивности с метриками доверия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AI‑отчёт “что делать сейчас” для руководителя и зоотехника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Пакет по исправлению качества данных (QC), чтобы модель улучшалась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601968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 AgroAnimals • MVP для СНГ (молочный КРС)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СНГ: большой объём молока → высокий потенциал эффекта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35440" y="164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097280"/>
          <a:ext cx="64008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097280"/>
            <a:ext cx="40233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8096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Кого берём в MVP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0" y="1691640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Промышленные фермы и холдинги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Племенные хозяйства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Фермы с цифровыми надоями / 305‑дн удоем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3703320"/>
            <a:ext cx="40233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8096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сейчас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80960" y="4297680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внимания к данным и импортозамещение ПО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на локальный контур (on‑prem)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от “отчётов” к decision‑support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601968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цифр: официальная статистика стран (2024)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пользователь и кто принимает решение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35440" y="164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394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(day‑to‑day)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зоотехник / селекционер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 воспроизводства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 (кормление/управление стадом) — опционально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5394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931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ЛПР и влияние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29768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/ собственник (финальное “да”)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ИТ/автоматизация (данные, интеграции)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Ветслужба (если затрагиваем здоровье/репродукцию)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097280"/>
            <a:ext cx="5120640" cy="4983480"/>
          </a:xfrm>
          <a:prstGeom prst="rect">
            <a:avLst/>
          </a:prstGeom>
          <a:solidFill>
            <a:srgbClr val="F5F7FA"/>
          </a:solidFill>
          <a:ln>
            <a:solidFill>
              <a:srgbClr val="D7DEE6"/>
            </a:solidFill>
          </a:ln>
        </p:spPr>
        <p:txBody>
          <a:bodyPr wrap="square" lIns="3175" tIns="3175" rIns="3175" bIns="317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покупают в реальности
</a:t>
            </a:r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учёт/управление стадом (СЕЛЭКС/1С и др.)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консалтинг кормления/менеджмента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генотипирование / индексы (для племенных и крупных)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GenomeAI соединяет данные → ML‑оценку → конкретные действия, не заменяя учётку.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601968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MVP: промышленный сегмент и племенные хозяйства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данные → QC → ML → AI‑отчёт с рекомендациями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35440" y="164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423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481328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810512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CSV/XLSX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СЕЛЭКС/1С/Excel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645920"/>
            <a:ext cx="292608" cy="274320"/>
          </a:xfrm>
          <a:prstGeom prst="rightArrow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2968" y="1371600"/>
            <a:ext cx="2423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481328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810512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аномалии,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 сравнения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50408" y="1645920"/>
            <a:ext cx="292608" cy="274320"/>
          </a:xfrm>
          <a:prstGeom prst="rightArrow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97296" y="1371600"/>
            <a:ext cx="2423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61888" y="1481328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ML‑модель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61888" y="1810512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305‑дн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74736" y="1645920"/>
            <a:ext cx="292608" cy="274320"/>
          </a:xfrm>
          <a:prstGeom prst="rightArrow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21624" y="1371600"/>
            <a:ext cx="2423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86216" y="1481328"/>
            <a:ext cx="2093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Скоринг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86216" y="1810512"/>
            <a:ext cx="2093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индекс, ранги,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buckets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2560320"/>
            <a:ext cx="11338560" cy="3383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</p:spPr>
      </p:sp>
      <p:pic>
        <p:nvPicPr>
          <p:cNvPr id="21" name="Image 0" descr="/mnt/data/img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067235"/>
            <a:ext cx="5212080" cy="241517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583680" y="2880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AI‑отчёт (Executive + Full)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583680" y="333756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3–5 действий “что сделать на этой неделе”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Рейтинг/кластеры по продуктивности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Списки: ядро / приоритет / наблюдение / выбраковка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Доверие: метрики модели + качество данных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Приложение: таблица по всем животным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601968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принцип: AI‑текст формируется только из fact‑pack (проверенные числа)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ключевые юзкейсы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35440" y="164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669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UC‑1: Performance Ranking Report (P0)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продуктивности внутри фермы/площадки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внутри contemporary groups (год/сезон отёла + лактация)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Рекомендации: ядро / наблюдение / выбраковка + причины + confidence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5669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977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UC‑2: Пакет качества данных (QC) (P0)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343400"/>
            <a:ext cx="51206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Отчет по ошибкам и аномалиям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строк для исправления в учётке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динамики качества данных между прогонами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097280"/>
            <a:ext cx="5532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12280" y="1325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заказчик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17373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Executive (1 стр.) для руководителя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Full‑отчёт для зоотехника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Таблица ранжирования (XLSX)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QC report (ошибки/аномалии)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Manifest для аудита и повторяемости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ML обязателен в MVP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416052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обучается на данных фермы, проходит time‑валидацию и публикует метрики (MAE/RMSE/Spearman).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AI‑отчёт включает ограничения и доверие.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601968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Возможное расширение (P1): mating plan по родословной/инбридингу после появления данных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для MVP: минимум P0 + расширение P1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35440" y="164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(обязательно для MVP)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animal_id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parity (№ лактации)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calving_date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milk_305_kg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(желательно — повышает качество ML)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5486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birth_date (age_at_calving)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farm_id / site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fat/protein (ECM/FPCM)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SCC (как флаги)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097280"/>
            <a:ext cx="5532120" cy="4983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325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берём данные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12280" y="17373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Учетные системы стада: СЕЛЭКС, 1С‑решения, DairyComp (если есть)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Доильный зал/роботы (в формате выгрузок)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Лабораторные отчеты (качество молока)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Генотипы/EBV — опционально для P2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4526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Гос‑реестры животных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12280" y="48006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Используются для идентификации/прослеживаемости (не источник продуктивности): РФ — ВетИС/Хорриот; Беларусь — AITS.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601968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допускает работу через выгрузки (CSV/XLSX) без интеграций.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юридические требования (MVP)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35440" y="164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On‑prem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6692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Контур данных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умолчанию: развёртывание в локальном контуре заказчика (on‑prem)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Исходные данные остаются у заказчика; доступ по ролям (RBAC)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manifest и аудит: версии, хэши входов, артефакты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5669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977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Юридика (типовой пакет)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343400"/>
            <a:ext cx="51206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/ коммерческая тайна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услуг/НИР + ТЗ/спецификация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Приложение: права на данные и производные результаты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Приложение: обезличивание и ретенция (при необходимости)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097280"/>
            <a:ext cx="55321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12280" y="1325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Anti‑hallucination (AI‑отчёт)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17373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генерирует текст только из fact‑pack: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QC coverage и ошибки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метрики ML (MAE/RMSE/Spearman)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списки действий и причины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валидируются: если в тексте есть число вне fact‑pack — отчёт не публикуется.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5120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безопасный и проверяемый AI‑отчёт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601968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Политики доступа и хранения настраиваются под требования холдинга/страны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пилота (MVP): быстрый старт без интеграций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35440" y="164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1430000" cy="41148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2801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11430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91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16916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 целей, data pack, роли, контур (on‑prem)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114300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103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Тестовая выгрузка P0, маппинг, QC отчёт и исправления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423160"/>
            <a:ext cx="11430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14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5146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полный прогон: ML + AI‑отчёт, обсуждение списков действий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11430000" cy="411480"/>
          </a:xfrm>
          <a:prstGeom prst="rect">
            <a:avLst/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Неделя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29260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прогон после исправлений, сравнение run‑diff, фиксация эффекта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251960"/>
            <a:ext cx="5669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4480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пилота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8463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AI‑отчёт (Executive + Full) + таблицы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Report + список правок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ML и протокол ограничений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manifest и пакет артефактов для аудита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251960"/>
            <a:ext cx="5532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448056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от заказчика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484632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Выгрузка P0 (305‑дн удой по лактациям)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контакт по данным/ИТ и 1 по бизнесу (зоотехник)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ИБ/юристов (если есть)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601968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пилота: решение о масштабировании на площадки/холдинг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развития (12 месяцев)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35440" y="164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11338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71600"/>
            <a:ext cx="2834640" cy="548640"/>
          </a:xfrm>
          <a:prstGeom prst="rect">
            <a:avLst/>
          </a:prstGeom>
          <a:solidFill>
            <a:srgbClr val="0F3D2E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Стабилизация MVP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4688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data contract, QC, ML+AI отчёты, пилот №1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1371600"/>
            <a:ext cx="0" cy="438912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371600"/>
            <a:ext cx="2834640" cy="548640"/>
          </a:xfrm>
          <a:prstGeom prst="rect">
            <a:avLst/>
          </a:prstGeom>
          <a:solidFill>
            <a:srgbClr val="0F3D2E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508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Тиражирование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86200" y="24688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фермы, стандарты онбординга, run‑registry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1371600"/>
            <a:ext cx="0" cy="438912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371600"/>
            <a:ext cx="2834640" cy="548640"/>
          </a:xfrm>
          <a:prstGeom prst="rect">
            <a:avLst/>
          </a:prstGeom>
          <a:solidFill>
            <a:srgbClr val="0F3D2E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508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2084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P1‑данные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24688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age_at_calving, ECM/FPCM, SCC флаги, test‑day фичи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26880" y="1371600"/>
            <a:ext cx="0" cy="4389120"/>
          </a:xfrm>
          <a:prstGeom prst="line">
            <a:avLst/>
          </a:prstGeom>
          <a:noFill/>
          <a:ln w="12700">
            <a:solidFill>
              <a:srgbClr val="D7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1371600"/>
            <a:ext cx="2834640" cy="548640"/>
          </a:xfrm>
          <a:prstGeom prst="rect">
            <a:avLst/>
          </a:prstGeom>
          <a:solidFill>
            <a:srgbClr val="0F3D2E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1508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55480" y="2103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55480" y="24688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интеграции, мониторинг качества/дрейфа, multi‑farm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601968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MVP‑пилот → тиражирование → расширение данных → платформа интеграций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Коммерческая рамка (MVP) — в рублях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35440" y="164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6692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325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монетизации (варианты)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 A: пилот фикс‑прайс + поддержка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 B: подписка за ферму/площадку (месяц)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 C: подписка + “за голову” (для больших стад)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5669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977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входит в стоимость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343400"/>
            <a:ext cx="51206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 и маппинг данных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QC, обучение ML и метрики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AI‑отчёты + таблицы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Аудит/manifest, поддержка в пилоте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097280"/>
            <a:ext cx="5532120" cy="4983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325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считать ROI (подход)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173736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строим вместе на данных фермы: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Δудой у “ядра” vs контроль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снижение доли низкопродуктивных коров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снижение ошибок данных (меньше потерь от управленческих ошибок)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отчёте — прозрачные метрики ML и confidence (без “магии”).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4983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Дополнительно (опц.)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5257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Интеграции, P1‑данные, геномика/EBV — как отдельные модули.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601968"/>
            <a:ext cx="112772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фиксируются после оценки объёма данных/площадок и требований ИБ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шаги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789920" cy="4206240"/>
          </a:xfrm>
          <a:prstGeom prst="rect">
            <a:avLst/>
          </a:prstGeom>
          <a:solidFill>
            <a:srgbClr val="FFFFFF">
              <a:alpha val="94000"/>
            </a:srgbClr>
          </a:solidFill>
          <a:ln>
            <a:solidFill>
              <a:srgbClr val="FFFFFF">
                <a:alpha val="65000"/>
              </a:srgbClr>
            </a:solidFill>
          </a:ln>
        </p:spPr>
        <p:txBody>
          <a:bodyPr wrap="square" lIns="4445" tIns="4445" rIns="4445" bIns="444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Выбираем площадку/ферму для пилота (1–2)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Подтверждаем P0 выгрузку: lactations с milk_305_kg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Определяем роли: зоотехник + ИТ/данные + руководитель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Уточняем требования ИБ (on‑prem, доступ, ретенция)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Запускаем 4‑недельный пилот и фиксируем решения по спискам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 Готовы показать демо на ваших данных.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GenomeAI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MVP: ML + AI отчёты для повышения продуктивности молочного КРС (СНГ)</dc:subject>
  <dc:creator>GenomeAI AgroAnimals</dc:creator>
  <cp:lastModifiedBy>GenomeAI AgroAnimals</cp:lastModifiedBy>
  <cp:revision>1</cp:revision>
  <dcterms:created xsi:type="dcterms:W3CDTF">2025-12-17T12:49:52Z</dcterms:created>
  <dcterms:modified xsi:type="dcterms:W3CDTF">2025-12-17T12:49:52Z</dcterms:modified>
</cp:coreProperties>
</file>